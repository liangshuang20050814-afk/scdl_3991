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ln w="25400">
              <a:solidFill>
                <a:srgbClr val="49A6FF"/>
              </a:solidFill>
            </a:ln>
          </c:spPr>
          <c:marker>
            <c:symbol val="circle"/>
            <c:size val="6"/>
            <c:spPr>
              <a:solidFill>
                <a:srgbClr val="49A6FF"/>
              </a:solidFill>
              <a:ln>
                <a:solidFill>
                  <a:srgbClr val="49A6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7.506315300515966</c:v>
                </c:pt>
                <c:pt idx="1">
                  <c:v>5.379947493324251</c:v>
                </c:pt>
                <c:pt idx="2">
                  <c:v>0.1988053220514115</c:v>
                </c:pt>
                <c:pt idx="3">
                  <c:v>0.2939049441717196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Similarity</c:v>
                </c:pt>
              </c:strCache>
            </c:strRef>
          </c:tx>
          <c:spPr>
            <a:ln w="25400">
              <a:solidFill>
                <a:srgbClr val="33D6B4"/>
              </a:solidFill>
            </a:ln>
          </c:spPr>
          <c:marker>
            <c:symbol val="circle"/>
            <c:size val="6"/>
            <c:spPr>
              <a:solidFill>
                <a:srgbClr val="33D6B4"/>
              </a:solidFill>
              <a:ln>
                <a:solidFill>
                  <a:srgbClr val="33D6B4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7.282333775183789</c:v>
                </c:pt>
                <c:pt idx="1">
                  <c:v>7.545802832650388</c:v>
                </c:pt>
                <c:pt idx="2">
                  <c:v>2.026114309260857</c:v>
                </c:pt>
                <c:pt idx="3">
                  <c:v>-1.8729005736525015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Diversity</c:v>
                </c:pt>
              </c:strCache>
            </c:strRef>
          </c:tx>
          <c:spPr>
            <a:ln w="25400">
              <a:solidFill>
                <a:srgbClr val="B58CFF"/>
              </a:solidFill>
            </a:ln>
          </c:spPr>
          <c:marker>
            <c:symbol val="circle"/>
            <c:size val="6"/>
            <c:spPr>
              <a:solidFill>
                <a:srgbClr val="B58CFF"/>
              </a:solidFill>
              <a:ln>
                <a:solidFill>
                  <a:srgbClr val="B58C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0.56157730707059</c:v>
                </c:pt>
                <c:pt idx="1">
                  <c:v>4.358560471006176</c:v>
                </c:pt>
                <c:pt idx="2">
                  <c:v>3.93845199314773</c:v>
                </c:pt>
                <c:pt idx="3">
                  <c:v>3.05216104664453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 Hard</c:v>
                </c:pt>
              </c:strCache>
            </c:strRef>
          </c:tx>
          <c:spPr>
            <a:ln w="25400">
              <a:solidFill>
                <a:srgbClr val="FF8A65"/>
              </a:solidFill>
            </a:ln>
          </c:spPr>
          <c:marker>
            <c:symbol val="circle"/>
            <c:size val="6"/>
            <c:spPr>
              <a:solidFill>
                <a:srgbClr val="FF8A65"/>
              </a:solidFill>
              <a:ln>
                <a:solidFill>
                  <a:srgbClr val="FF8A65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6.012839785297185</c:v>
                </c:pt>
                <c:pt idx="1">
                  <c:v>1.3966448282843398</c:v>
                </c:pt>
                <c:pt idx="2">
                  <c:v>-1.7250286856523955</c:v>
                </c:pt>
                <c:pt idx="3">
                  <c:v>-1.1236910979316292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Baseline-25</c:v>
                </c:pt>
              </c:strCache>
            </c:strRef>
          </c:tx>
          <c:spPr>
            <a:ln>
              <a:solidFill>
                <a:srgbClr val="F5C451"/>
              </a:solidFill>
            </a:ln>
          </c:spPr>
          <c:marker>
            <c:symbol val="star"/>
            <c:size val="11"/>
            <c:spPr>
              <a:solidFill>
                <a:srgbClr val="F5C451"/>
              </a:solidFill>
              <a:ln>
                <a:solidFill>
                  <a:srgbClr val="B9891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.0"/>
          <c:min val="-9.0"/>
        </c:scaling>
        <c:delete val="0"/>
        <c:axPos val="l"/>
        <c:majorGridlines>
          <c:spPr>
            <a:ln>
              <a:solidFill>
                <a:srgbClr val="D8E0E8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18791784"/>
        <c:crosses val="autoZero"/>
        <c:majorUnit val="4.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ln w="25400">
              <a:solidFill>
                <a:srgbClr val="49A6FF"/>
              </a:solidFill>
            </a:ln>
          </c:spPr>
          <c:marker>
            <c:symbol val="circle"/>
            <c:size val="6"/>
            <c:spPr>
              <a:solidFill>
                <a:srgbClr val="49A6FF"/>
              </a:solidFill>
              <a:ln>
                <a:solidFill>
                  <a:srgbClr val="49A6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2.575961564828404</c:v>
                </c:pt>
                <c:pt idx="1">
                  <c:v>1.7400148515265883</c:v>
                </c:pt>
                <c:pt idx="2">
                  <c:v>0.6030456410493135</c:v>
                </c:pt>
                <c:pt idx="3">
                  <c:v>0.20457051154990144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Similarity</c:v>
                </c:pt>
              </c:strCache>
            </c:strRef>
          </c:tx>
          <c:spPr>
            <a:ln w="25400">
              <a:solidFill>
                <a:srgbClr val="33D6B4"/>
              </a:solidFill>
            </a:ln>
          </c:spPr>
          <c:marker>
            <c:symbol val="circle"/>
            <c:size val="6"/>
            <c:spPr>
              <a:solidFill>
                <a:srgbClr val="33D6B4"/>
              </a:solidFill>
              <a:ln>
                <a:solidFill>
                  <a:srgbClr val="33D6B4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2.414082952044603</c:v>
                </c:pt>
                <c:pt idx="1">
                  <c:v>0.875319350574035</c:v>
                </c:pt>
                <c:pt idx="2">
                  <c:v>0.07816949331729989</c:v>
                </c:pt>
                <c:pt idx="3">
                  <c:v>-1.5005031380829381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Diversity</c:v>
                </c:pt>
              </c:strCache>
            </c:strRef>
          </c:tx>
          <c:spPr>
            <a:ln w="25400">
              <a:solidFill>
                <a:srgbClr val="B58CFF"/>
              </a:solidFill>
            </a:ln>
          </c:spPr>
          <c:marker>
            <c:symbol val="circle"/>
            <c:size val="6"/>
            <c:spPr>
              <a:solidFill>
                <a:srgbClr val="B58CFF"/>
              </a:solidFill>
              <a:ln>
                <a:solidFill>
                  <a:srgbClr val="B58C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1.3411843397632315</c:v>
                </c:pt>
                <c:pt idx="1">
                  <c:v>1.8844328211479768</c:v>
                </c:pt>
                <c:pt idx="2">
                  <c:v>1.124094458994822</c:v>
                </c:pt>
                <c:pt idx="3">
                  <c:v>0.5962504489190662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 Hard</c:v>
                </c:pt>
              </c:strCache>
            </c:strRef>
          </c:tx>
          <c:spPr>
            <a:ln w="25400">
              <a:solidFill>
                <a:srgbClr val="FF8A65"/>
              </a:solidFill>
            </a:ln>
          </c:spPr>
          <c:marker>
            <c:symbol val="circle"/>
            <c:size val="6"/>
            <c:spPr>
              <a:solidFill>
                <a:srgbClr val="FF8A65"/>
              </a:solidFill>
              <a:ln>
                <a:solidFill>
                  <a:srgbClr val="FF8A65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3.233096120909208</c:v>
                </c:pt>
                <c:pt idx="1">
                  <c:v>0.9864862862542799</c:v>
                </c:pt>
                <c:pt idx="2">
                  <c:v>-0.14765756883941655</c:v>
                </c:pt>
                <c:pt idx="3">
                  <c:v>-0.9383994811401116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Baseline-25</c:v>
                </c:pt>
              </c:strCache>
            </c:strRef>
          </c:tx>
          <c:spPr>
            <a:ln>
              <a:solidFill>
                <a:srgbClr val="F5C451"/>
              </a:solidFill>
            </a:ln>
          </c:spPr>
          <c:marker>
            <c:symbol val="star"/>
            <c:size val="11"/>
            <c:spPr>
              <a:solidFill>
                <a:srgbClr val="F5C451"/>
              </a:solidFill>
              <a:ln>
                <a:solidFill>
                  <a:srgbClr val="B9891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.0"/>
          <c:min val="-9.0"/>
        </c:scaling>
        <c:delete val="0"/>
        <c:axPos val="l"/>
        <c:majorGridlines>
          <c:spPr>
            <a:ln>
              <a:solidFill>
                <a:srgbClr val="D8E0E8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18791784"/>
        <c:crosses val="autoZero"/>
        <c:majorUnit val="4.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ln w="25400">
              <a:solidFill>
                <a:srgbClr val="49A6FF"/>
              </a:solidFill>
            </a:ln>
          </c:spPr>
          <c:marker>
            <c:symbol val="circle"/>
            <c:size val="6"/>
            <c:spPr>
              <a:solidFill>
                <a:srgbClr val="49A6FF"/>
              </a:solidFill>
              <a:ln>
                <a:solidFill>
                  <a:srgbClr val="49A6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0.13784752860724814</c:v>
                </c:pt>
                <c:pt idx="1">
                  <c:v>-0.1284085966133149</c:v>
                </c:pt>
                <c:pt idx="2">
                  <c:v>1.1067157717431266</c:v>
                </c:pt>
                <c:pt idx="3">
                  <c:v>0.45491929197995745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Similarity</c:v>
                </c:pt>
              </c:strCache>
            </c:strRef>
          </c:tx>
          <c:spPr>
            <a:ln w="25400">
              <a:solidFill>
                <a:srgbClr val="33D6B4"/>
              </a:solidFill>
            </a:ln>
          </c:spPr>
          <c:marker>
            <c:symbol val="circle"/>
            <c:size val="6"/>
            <c:spPr>
              <a:solidFill>
                <a:srgbClr val="33D6B4"/>
              </a:solidFill>
              <a:ln>
                <a:solidFill>
                  <a:srgbClr val="33D6B4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1.915807046031348</c:v>
                </c:pt>
                <c:pt idx="1">
                  <c:v>-0.6688262761231739</c:v>
                </c:pt>
                <c:pt idx="2">
                  <c:v>-0.26964715262377253</c:v>
                </c:pt>
                <c:pt idx="3">
                  <c:v>-0.7880114573822141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Diversity</c:v>
                </c:pt>
              </c:strCache>
            </c:strRef>
          </c:tx>
          <c:spPr>
            <a:ln w="25400">
              <a:solidFill>
                <a:srgbClr val="B58CFF"/>
              </a:solidFill>
            </a:ln>
          </c:spPr>
          <c:marker>
            <c:symbol val="circle"/>
            <c:size val="6"/>
            <c:spPr>
              <a:solidFill>
                <a:srgbClr val="B58CFF"/>
              </a:solidFill>
              <a:ln>
                <a:solidFill>
                  <a:srgbClr val="B58C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1.011176697906907</c:v>
                </c:pt>
                <c:pt idx="1">
                  <c:v>0.7136193938616063</c:v>
                </c:pt>
                <c:pt idx="2">
                  <c:v>0.3061929014980801</c:v>
                </c:pt>
                <c:pt idx="3">
                  <c:v>-0.5895962871131638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 Hard</c:v>
                </c:pt>
              </c:strCache>
            </c:strRef>
          </c:tx>
          <c:spPr>
            <a:ln w="25400">
              <a:solidFill>
                <a:srgbClr val="FF8A65"/>
              </a:solidFill>
            </a:ln>
          </c:spPr>
          <c:marker>
            <c:symbol val="circle"/>
            <c:size val="6"/>
            <c:spPr>
              <a:solidFill>
                <a:srgbClr val="FF8A65"/>
              </a:solidFill>
              <a:ln>
                <a:solidFill>
                  <a:srgbClr val="FF8A65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1.4281580931119584</c:v>
                </c:pt>
                <c:pt idx="1">
                  <c:v>0.6432440030466936</c:v>
                </c:pt>
                <c:pt idx="2">
                  <c:v>0.5503404040527013</c:v>
                </c:pt>
                <c:pt idx="3">
                  <c:v>-0.8517959213112467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Baseline-25</c:v>
                </c:pt>
              </c:strCache>
            </c:strRef>
          </c:tx>
          <c:spPr>
            <a:ln>
              <a:solidFill>
                <a:srgbClr val="F5C451"/>
              </a:solidFill>
            </a:ln>
          </c:spPr>
          <c:marker>
            <c:symbol val="star"/>
            <c:size val="11"/>
            <c:spPr>
              <a:solidFill>
                <a:srgbClr val="F5C451"/>
              </a:solidFill>
              <a:ln>
                <a:solidFill>
                  <a:srgbClr val="B9891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.0"/>
          <c:min val="-9.0"/>
        </c:scaling>
        <c:delete val="0"/>
        <c:axPos val="l"/>
        <c:majorGridlines>
          <c:spPr>
            <a:ln>
              <a:solidFill>
                <a:srgbClr val="D8E0E8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18791784"/>
        <c:crosses val="autoZero"/>
        <c:majorUnit val="4.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ln w="25400">
              <a:solidFill>
                <a:srgbClr val="49A6FF"/>
              </a:solidFill>
            </a:ln>
          </c:spPr>
          <c:marker>
            <c:symbol val="circle"/>
            <c:size val="6"/>
            <c:spPr>
              <a:solidFill>
                <a:srgbClr val="49A6FF"/>
              </a:solidFill>
              <a:ln>
                <a:solidFill>
                  <a:srgbClr val="49A6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1.486306735922495</c:v>
                </c:pt>
                <c:pt idx="1">
                  <c:v>0.8227024985598291</c:v>
                </c:pt>
                <c:pt idx="2">
                  <c:v>-0.3805609563364909</c:v>
                </c:pt>
                <c:pt idx="3">
                  <c:v>-0.0365443263731369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Similarity</c:v>
                </c:pt>
              </c:strCache>
            </c:strRef>
          </c:tx>
          <c:spPr>
            <a:ln w="25400">
              <a:solidFill>
                <a:srgbClr val="33D6B4"/>
              </a:solidFill>
            </a:ln>
          </c:spPr>
          <c:marker>
            <c:symbol val="circle"/>
            <c:size val="6"/>
            <c:spPr>
              <a:solidFill>
                <a:srgbClr val="33D6B4"/>
              </a:solidFill>
              <a:ln>
                <a:solidFill>
                  <a:srgbClr val="33D6B4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0.9774072859559797</c:v>
                </c:pt>
                <c:pt idx="1">
                  <c:v>0.9329481655889591</c:v>
                </c:pt>
                <c:pt idx="2">
                  <c:v>1.6419174728791188</c:v>
                </c:pt>
                <c:pt idx="3">
                  <c:v>1.0394637406552691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Diversity</c:v>
                </c:pt>
              </c:strCache>
            </c:strRef>
          </c:tx>
          <c:spPr>
            <a:ln w="25400">
              <a:solidFill>
                <a:srgbClr val="B58CFF"/>
              </a:solidFill>
            </a:ln>
          </c:spPr>
          <c:marker>
            <c:symbol val="circle"/>
            <c:size val="6"/>
            <c:spPr>
              <a:solidFill>
                <a:srgbClr val="B58CFF"/>
              </a:solidFill>
              <a:ln>
                <a:solidFill>
                  <a:srgbClr val="B58C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0.05660931032044112</c:v>
                </c:pt>
                <c:pt idx="1">
                  <c:v>-0.6444800891201443</c:v>
                </c:pt>
                <c:pt idx="2">
                  <c:v>0.5305441221365657</c:v>
                </c:pt>
                <c:pt idx="3">
                  <c:v>-0.539339791274656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 Hard</c:v>
                </c:pt>
              </c:strCache>
            </c:strRef>
          </c:tx>
          <c:spPr>
            <a:ln w="25400">
              <a:solidFill>
                <a:srgbClr val="FF8A65"/>
              </a:solidFill>
            </a:ln>
          </c:spPr>
          <c:marker>
            <c:symbol val="circle"/>
            <c:size val="6"/>
            <c:spPr>
              <a:solidFill>
                <a:srgbClr val="FF8A65"/>
              </a:solidFill>
              <a:ln>
                <a:solidFill>
                  <a:srgbClr val="FF8A65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-2.293153481886313</c:v>
                </c:pt>
                <c:pt idx="1">
                  <c:v>-4.367080252446169</c:v>
                </c:pt>
                <c:pt idx="2">
                  <c:v>-3.200632581733521</c:v>
                </c:pt>
                <c:pt idx="3">
                  <c:v>-3.564137484070796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Baseline-25</c:v>
                </c:pt>
              </c:strCache>
            </c:strRef>
          </c:tx>
          <c:spPr>
            <a:ln>
              <a:solidFill>
                <a:srgbClr val="F5C451"/>
              </a:solidFill>
            </a:ln>
          </c:spPr>
          <c:marker>
            <c:symbol val="star"/>
            <c:size val="11"/>
            <c:spPr>
              <a:solidFill>
                <a:srgbClr val="F5C451"/>
              </a:solidFill>
              <a:ln>
                <a:solidFill>
                  <a:srgbClr val="B9891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.0"/>
          <c:min val="-9.0"/>
        </c:scaling>
        <c:delete val="0"/>
        <c:axPos val="l"/>
        <c:majorGridlines>
          <c:spPr>
            <a:ln>
              <a:solidFill>
                <a:srgbClr val="D8E0E8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18791784"/>
        <c:crosses val="autoZero"/>
        <c:majorUnit val="4.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ln w="25400">
              <a:solidFill>
                <a:srgbClr val="49A6FF"/>
              </a:solidFill>
            </a:ln>
          </c:spPr>
          <c:marker>
            <c:symbol val="circle"/>
            <c:size val="6"/>
            <c:spPr>
              <a:solidFill>
                <a:srgbClr val="49A6FF"/>
              </a:solidFill>
              <a:ln>
                <a:solidFill>
                  <a:srgbClr val="49A6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0.70203647202091</c:v>
                </c:pt>
                <c:pt idx="1">
                  <c:v>0.2160181097851629</c:v>
                </c:pt>
                <c:pt idx="2">
                  <c:v>-0.07934409939041681</c:v>
                </c:pt>
                <c:pt idx="3">
                  <c:v>-0.01216488480356505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Similarity</c:v>
                </c:pt>
              </c:strCache>
            </c:strRef>
          </c:tx>
          <c:spPr>
            <a:ln w="25400">
              <a:solidFill>
                <a:srgbClr val="33D6B4"/>
              </a:solidFill>
            </a:ln>
          </c:spPr>
          <c:marker>
            <c:symbol val="circle"/>
            <c:size val="6"/>
            <c:spPr>
              <a:solidFill>
                <a:srgbClr val="33D6B4"/>
              </a:solidFill>
              <a:ln>
                <a:solidFill>
                  <a:srgbClr val="33D6B4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0.2580044971024767</c:v>
                </c:pt>
                <c:pt idx="1">
                  <c:v>0.47663996811743947</c:v>
                </c:pt>
                <c:pt idx="2">
                  <c:v>0.9128439022592586</c:v>
                </c:pt>
                <c:pt idx="3">
                  <c:v>0.28543994778874227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Diversity</c:v>
                </c:pt>
              </c:strCache>
            </c:strRef>
          </c:tx>
          <c:spPr>
            <a:ln w="25400">
              <a:solidFill>
                <a:srgbClr val="B58CFF"/>
              </a:solidFill>
            </a:ln>
          </c:spPr>
          <c:marker>
            <c:symbol val="circle"/>
            <c:size val="6"/>
            <c:spPr>
              <a:solidFill>
                <a:srgbClr val="B58CFF"/>
              </a:solidFill>
              <a:ln>
                <a:solidFill>
                  <a:srgbClr val="B58C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-0.12049976261768955</c:v>
                </c:pt>
                <c:pt idx="1">
                  <c:v>-0.6176317540220871</c:v>
                </c:pt>
                <c:pt idx="2">
                  <c:v>-0.14068005710440507</c:v>
                </c:pt>
                <c:pt idx="3">
                  <c:v>-0.5011123370693671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 Hard</c:v>
                </c:pt>
              </c:strCache>
            </c:strRef>
          </c:tx>
          <c:spPr>
            <a:ln w="25400">
              <a:solidFill>
                <a:srgbClr val="FF8A65"/>
              </a:solidFill>
            </a:ln>
          </c:spPr>
          <c:marker>
            <c:symbol val="circle"/>
            <c:size val="6"/>
            <c:spPr>
              <a:solidFill>
                <a:srgbClr val="FF8A65"/>
              </a:solidFill>
              <a:ln>
                <a:solidFill>
                  <a:srgbClr val="FF8A65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-0.5705134484240056</c:v>
                </c:pt>
                <c:pt idx="1">
                  <c:v>-1.6824094547013366</c:v>
                </c:pt>
                <c:pt idx="2">
                  <c:v>-1.0156464229348041</c:v>
                </c:pt>
                <c:pt idx="3">
                  <c:v>-1.243733245872402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Baseline-25</c:v>
                </c:pt>
              </c:strCache>
            </c:strRef>
          </c:tx>
          <c:spPr>
            <a:ln>
              <a:solidFill>
                <a:srgbClr val="F5C451"/>
              </a:solidFill>
            </a:ln>
          </c:spPr>
          <c:marker>
            <c:symbol val="star"/>
            <c:size val="11"/>
            <c:spPr>
              <a:solidFill>
                <a:srgbClr val="F5C451"/>
              </a:solidFill>
              <a:ln>
                <a:solidFill>
                  <a:srgbClr val="B9891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 Baseline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.0"/>
          <c:min val="-9.0"/>
        </c:scaling>
        <c:delete val="0"/>
        <c:axPos val="l"/>
        <c:majorGridlines>
          <c:spPr>
            <a:ln>
              <a:solidFill>
                <a:srgbClr val="D8E0E8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2118791784"/>
        <c:crosses val="autoZero"/>
        <c:majorUnit val="4.5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146304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7212B"/>
                </a:solidFill>
                <a:latin typeface="Arial"/>
              </a:defRPr>
            </a:pPr>
            <a:r>
              <a:t>PATCH BUDGET — PERFORMANCE ACROSS 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530352"/>
            <a:ext cx="10972800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526273"/>
                </a:solidFill>
                <a:latin typeface="Arial"/>
              </a:defRPr>
            </a:pPr>
            <a:r>
              <a:t>Change relative to the original TRIPLEX model using 25 patches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13816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17212B"/>
                </a:solidFill>
                <a:latin typeface="Arial"/>
              </a:defRPr>
            </a:pPr>
            <a:r>
              <a:t>CCC ↑  ·  Agreement in trend, mean and variance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20040" y="1170432"/>
          <a:ext cx="3657600" cy="2231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61104" y="813816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17212B"/>
                </a:solidFill>
                <a:latin typeface="Arial"/>
              </a:defRPr>
            </a:pPr>
            <a:r>
              <a:t>PCC(M) ↑  ·  Mean correlation across 250 genes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61104" y="1170432"/>
          <a:ext cx="3657600" cy="22311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02168" y="813816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17212B"/>
                </a:solidFill>
                <a:latin typeface="Arial"/>
              </a:defRPr>
            </a:pPr>
            <a:r>
              <a:t>PCC(H) ↑  ·  Mean correlation across top-50 genes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02168" y="1170432"/>
          <a:ext cx="3657600" cy="2231136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547872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17212B"/>
                </a:solidFill>
                <a:latin typeface="Arial"/>
              </a:defRPr>
            </a:pPr>
            <a:r>
              <a:t>MSE ↓  ·  Large errors count more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20040" y="3904487"/>
          <a:ext cx="3657600" cy="2231136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261104" y="3547872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17212B"/>
                </a:solidFill>
                <a:latin typeface="Arial"/>
              </a:defRPr>
            </a:pPr>
            <a:r>
              <a:t>MAE ↓  ·  Average absolute prediction error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261104" y="3904487"/>
          <a:ext cx="3657600" cy="2231136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275320" y="3840480"/>
            <a:ext cx="3383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48DB8"/>
                </a:solidFill>
                <a:latin typeface="Arial"/>
              </a:defRPr>
            </a:pPr>
            <a:r>
              <a:t>HOW TO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224528"/>
            <a:ext cx="3429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17212B"/>
                </a:solidFill>
                <a:latin typeface="Arial"/>
              </a:defRPr>
            </a:pPr>
            <a:r>
              <a:t>0% = original TRIPLEX with 25 patches</a:t>
            </a:r>
            <a:br/>
            <a:r>
              <a:t>Above 0 = better than Baseline-25</a:t>
            </a:r>
            <a:br/>
            <a:r>
              <a:t>Below 0 = worse than Baseline-25</a:t>
            </a:r>
          </a:p>
        </p:txBody>
      </p:sp>
      <p:sp>
        <p:nvSpPr>
          <p:cNvPr id="16" name="Oval 15"/>
          <p:cNvSpPr/>
          <p:nvPr/>
        </p:nvSpPr>
        <p:spPr>
          <a:xfrm>
            <a:off x="8275320" y="5266944"/>
            <a:ext cx="109728" cy="109728"/>
          </a:xfrm>
          <a:prstGeom prst="ellipse">
            <a:avLst/>
          </a:prstGeom>
          <a:solidFill>
            <a:srgbClr val="49A6FF"/>
          </a:solidFill>
          <a:ln>
            <a:solidFill>
              <a:srgbClr val="49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5212080"/>
            <a:ext cx="1417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17212B"/>
                </a:solidFill>
                <a:latin typeface="Arial"/>
              </a:defRPr>
            </a:pPr>
            <a:r>
              <a:t>Random</a:t>
            </a:r>
          </a:p>
        </p:txBody>
      </p:sp>
      <p:sp>
        <p:nvSpPr>
          <p:cNvPr id="18" name="Oval 17"/>
          <p:cNvSpPr/>
          <p:nvPr/>
        </p:nvSpPr>
        <p:spPr>
          <a:xfrm>
            <a:off x="9939528" y="5266944"/>
            <a:ext cx="109728" cy="109728"/>
          </a:xfrm>
          <a:prstGeom prst="ellipse">
            <a:avLst/>
          </a:prstGeom>
          <a:solidFill>
            <a:srgbClr val="33D6B4"/>
          </a:solidFill>
          <a:ln>
            <a:solidFill>
              <a:srgbClr val="33D6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94976" y="5212080"/>
            <a:ext cx="1417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17212B"/>
                </a:solidFill>
                <a:latin typeface="Arial"/>
              </a:defRPr>
            </a:pPr>
            <a:r>
              <a:t>Similarity</a:t>
            </a:r>
          </a:p>
        </p:txBody>
      </p:sp>
      <p:sp>
        <p:nvSpPr>
          <p:cNvPr id="20" name="Oval 19"/>
          <p:cNvSpPr/>
          <p:nvPr/>
        </p:nvSpPr>
        <p:spPr>
          <a:xfrm>
            <a:off x="8275320" y="5650992"/>
            <a:ext cx="109728" cy="109728"/>
          </a:xfrm>
          <a:prstGeom prst="ellipse">
            <a:avLst/>
          </a:prstGeom>
          <a:solidFill>
            <a:srgbClr val="B58CFF"/>
          </a:solidFill>
          <a:ln>
            <a:solidFill>
              <a:srgbClr val="B5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5596128"/>
            <a:ext cx="1417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17212B"/>
                </a:solidFill>
                <a:latin typeface="Arial"/>
              </a:defRPr>
            </a:pPr>
            <a:r>
              <a:t>Diversity</a:t>
            </a:r>
          </a:p>
        </p:txBody>
      </p:sp>
      <p:sp>
        <p:nvSpPr>
          <p:cNvPr id="22" name="Oval 21"/>
          <p:cNvSpPr/>
          <p:nvPr/>
        </p:nvSpPr>
        <p:spPr>
          <a:xfrm>
            <a:off x="9939528" y="5650992"/>
            <a:ext cx="109728" cy="109728"/>
          </a:xfrm>
          <a:prstGeom prst="ellipse">
            <a:avLst/>
          </a:prstGeom>
          <a:solidFill>
            <a:srgbClr val="FF8A65"/>
          </a:solidFill>
          <a:ln>
            <a:solidFill>
              <a:srgbClr val="FF8A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94976" y="5596128"/>
            <a:ext cx="1417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17212B"/>
                </a:solidFill>
                <a:latin typeface="Arial"/>
              </a:defRPr>
            </a:pPr>
            <a:r>
              <a:t>ST Hard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6099048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526273"/>
                </a:solidFill>
                <a:latin typeface="Arial"/>
              </a:defRPr>
            </a:pPr>
            <a:r>
              <a:t>K includes the central target patch.</a:t>
            </a:r>
            <a:br/>
            <a:r>
              <a:t>Means across 8 patient-level folds.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